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88825"/>
  <p:notesSz cx="6858000" cy="9144000"/>
  <p:embeddedFontLst>
    <p:embeddedFont>
      <p:font typeface="Exo 2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h/JzX48kr0hCliftzat2Ox6wWl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714223-DAD3-42C6-9EAA-DC450D7F9B90}">
  <a:tblStyle styleId="{0D714223-DAD3-42C6-9EAA-DC450D7F9B9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96B81B0-2936-4716-B476-1C2B08C369D0}" styleName="Table_1">
    <a:wholeTbl>
      <a:tcTxStyle b="off" i="off">
        <a:font>
          <a:latin typeface="Exo 2"/>
          <a:ea typeface="Exo 2"/>
          <a:cs typeface="Exo 2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Exo 2"/>
          <a:ea typeface="Exo 2"/>
          <a:cs typeface="Exo 2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Exo 2"/>
          <a:ea typeface="Exo 2"/>
          <a:cs typeface="Exo 2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Exo 2"/>
          <a:ea typeface="Exo 2"/>
          <a:cs typeface="Exo 2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Exo 2"/>
          <a:ea typeface="Exo 2"/>
          <a:cs typeface="Exo 2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xo2-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Exo2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Exo2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Exo2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07f24d83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e07f24d83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07f24d83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e07f24d839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07f24d83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e07f24d839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07f24d839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07f24d83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07f24d839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07f24d83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1)">
  <p:cSld name="Слайд (варіант 1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/>
          <p:nvPr/>
        </p:nvSpPr>
        <p:spPr>
          <a:xfrm>
            <a:off x="0" y="6149258"/>
            <a:ext cx="12188825" cy="708743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99" u="none" cap="none" strike="noStrike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437772" y="431006"/>
            <a:ext cx="7349606" cy="9416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3199"/>
              <a:buNone/>
              <a:defRPr b="1" sz="3199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2" type="body"/>
          </p:nvPr>
        </p:nvSpPr>
        <p:spPr>
          <a:xfrm>
            <a:off x="446317" y="1387104"/>
            <a:ext cx="9887047" cy="4158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B3A6E"/>
              </a:buClr>
              <a:buSzPts val="2399"/>
              <a:buNone/>
              <a:defRPr b="1" sz="2399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3" type="body"/>
          </p:nvPr>
        </p:nvSpPr>
        <p:spPr>
          <a:xfrm>
            <a:off x="453432" y="1992443"/>
            <a:ext cx="9887047" cy="4158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6"/>
              <a:buNone/>
              <a:defRPr b="0" sz="1866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" name="Google Shape;1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0896" y="6235831"/>
            <a:ext cx="396825" cy="53100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8"/>
          <p:cNvSpPr txBox="1"/>
          <p:nvPr/>
        </p:nvSpPr>
        <p:spPr>
          <a:xfrm>
            <a:off x="896621" y="6285890"/>
            <a:ext cx="4235406" cy="420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6" u="none" cap="none" strike="noStrik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</a:t>
            </a:r>
            <a:br>
              <a:rPr b="1" i="0" lang="en-US" sz="1066" u="none" cap="none" strike="noStrik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</a:br>
            <a:r>
              <a:rPr b="1" i="0" lang="en-US" sz="1066" u="none" cap="none" strike="noStrik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«Київський політехнічний інститут імені Ігоря Сікорського»</a:t>
            </a:r>
            <a:endParaRPr sz="1066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">
  <p:cSld name="Титульний слайд">
    <p:bg>
      <p:bgPr>
        <a:solidFill>
          <a:srgbClr val="1B3A6E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КПИ\works\_ДНВР\Брендбук КПИ\Ресурс 39.png" id="19" name="Google Shape;1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74017" y="1710303"/>
            <a:ext cx="6040793" cy="343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2)">
  <p:cSld name="Слайд (варіант 2)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/>
          <p:nvPr/>
        </p:nvSpPr>
        <p:spPr>
          <a:xfrm>
            <a:off x="0" y="6340072"/>
            <a:ext cx="12188825" cy="517928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2" name="Google Shape;22;p10"/>
          <p:cNvSpPr txBox="1"/>
          <p:nvPr>
            <p:ph idx="1" type="body"/>
          </p:nvPr>
        </p:nvSpPr>
        <p:spPr>
          <a:xfrm>
            <a:off x="437772" y="431005"/>
            <a:ext cx="7349606" cy="9416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3199"/>
              <a:buNone/>
              <a:defRPr b="1" sz="3199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2" type="body"/>
          </p:nvPr>
        </p:nvSpPr>
        <p:spPr>
          <a:xfrm>
            <a:off x="446317" y="1387104"/>
            <a:ext cx="9887047" cy="4158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B3A6E"/>
              </a:buClr>
              <a:buSzPts val="2399"/>
              <a:buNone/>
              <a:defRPr b="1" sz="2399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3" type="body"/>
          </p:nvPr>
        </p:nvSpPr>
        <p:spPr>
          <a:xfrm>
            <a:off x="453432" y="1992443"/>
            <a:ext cx="9887047" cy="4158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6"/>
              <a:buNone/>
              <a:defRPr b="0" sz="1866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0"/>
          <p:cNvSpPr txBox="1"/>
          <p:nvPr/>
        </p:nvSpPr>
        <p:spPr>
          <a:xfrm>
            <a:off x="1228227" y="6424432"/>
            <a:ext cx="9715324" cy="27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 «Київський політехнічний інститут імені Ігоря Сікорського»</a:t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26" name="Google Shape;2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809" y="5908762"/>
            <a:ext cx="644645" cy="86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765" y="5972413"/>
            <a:ext cx="502734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3)">
  <p:cSld name="Слайд (варіант 3)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/>
          <p:nvPr/>
        </p:nvSpPr>
        <p:spPr>
          <a:xfrm>
            <a:off x="0" y="6340072"/>
            <a:ext cx="12188825" cy="517928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437772" y="431005"/>
            <a:ext cx="7349606" cy="9416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3199"/>
              <a:buNone/>
              <a:defRPr b="1" sz="3199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2" type="body"/>
          </p:nvPr>
        </p:nvSpPr>
        <p:spPr>
          <a:xfrm>
            <a:off x="446317" y="1387104"/>
            <a:ext cx="9887047" cy="4158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B3A6E"/>
              </a:buClr>
              <a:buSzPts val="2399"/>
              <a:buNone/>
              <a:defRPr b="1" sz="2399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3" type="body"/>
          </p:nvPr>
        </p:nvSpPr>
        <p:spPr>
          <a:xfrm>
            <a:off x="453432" y="1992443"/>
            <a:ext cx="9887047" cy="4158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6"/>
              <a:buNone/>
              <a:defRPr b="0" sz="1866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3" name="Google Shape;33;p11"/>
          <p:cNvGrpSpPr/>
          <p:nvPr/>
        </p:nvGrpSpPr>
        <p:grpSpPr>
          <a:xfrm>
            <a:off x="10946285" y="5900236"/>
            <a:ext cx="644645" cy="862621"/>
            <a:chOff x="8296291" y="4126103"/>
            <a:chExt cx="662832" cy="886727"/>
          </a:xfrm>
        </p:grpSpPr>
        <p:pic>
          <p:nvPicPr>
            <p:cNvPr id="34" name="Google Shape;34;p1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296291" y="4126103"/>
              <a:ext cx="662832" cy="8867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69248" y="4191533"/>
              <a:ext cx="516917" cy="7558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11"/>
          <p:cNvSpPr txBox="1"/>
          <p:nvPr/>
        </p:nvSpPr>
        <p:spPr>
          <a:xfrm>
            <a:off x="461919" y="6447597"/>
            <a:ext cx="9715324" cy="27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 «Київський політехнічний інститут імені Ігоря Сікорського»</a:t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4)">
  <p:cSld name="Слайд (варіант 4)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28491" y="5585540"/>
            <a:ext cx="819890" cy="1097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54" y="6046372"/>
            <a:ext cx="395481" cy="57845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2"/>
          <p:cNvSpPr txBox="1"/>
          <p:nvPr/>
        </p:nvSpPr>
        <p:spPr>
          <a:xfrm>
            <a:off x="761235" y="6104764"/>
            <a:ext cx="4746764" cy="461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</a:t>
            </a:r>
            <a:br>
              <a:rPr b="1" lang="en-US" sz="12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</a:br>
            <a:r>
              <a:rPr b="1" lang="en-US" sz="12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«Київський політехнічний інститут імені Ігоря Сікорського»</a:t>
            </a:r>
            <a:endParaRPr b="1" sz="1200">
              <a:solidFill>
                <a:srgbClr val="1B3A6E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5)">
  <p:cSld name="Слайд (варіант 5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37772" y="431005"/>
            <a:ext cx="7349606" cy="9416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3199"/>
              <a:buNone/>
              <a:defRPr b="1" sz="3199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46317" y="1387104"/>
            <a:ext cx="9887047" cy="4158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B3A6E"/>
              </a:buClr>
              <a:buSzPts val="2399"/>
              <a:buNone/>
              <a:defRPr b="1" sz="2399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53432" y="1992443"/>
            <a:ext cx="9887047" cy="4158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6"/>
              <a:buNone/>
              <a:defRPr b="0" sz="1866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5" name="Google Shape;4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96057" y="5789068"/>
            <a:ext cx="523997" cy="76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6)">
  <p:cSld name="Слайд (варіант 6)">
    <p:bg>
      <p:bgPr>
        <a:solidFill>
          <a:srgbClr val="1B3A6E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/>
          <p:nvPr>
            <p:ph idx="1" type="body"/>
          </p:nvPr>
        </p:nvSpPr>
        <p:spPr>
          <a:xfrm>
            <a:off x="437772" y="431005"/>
            <a:ext cx="7349606" cy="9416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99"/>
              <a:buNone/>
              <a:defRPr b="1" sz="3199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2" type="body"/>
          </p:nvPr>
        </p:nvSpPr>
        <p:spPr>
          <a:xfrm>
            <a:off x="446317" y="1387104"/>
            <a:ext cx="9887047" cy="4158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399"/>
              <a:buNone/>
              <a:defRPr b="1" sz="2399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3" type="body"/>
          </p:nvPr>
        </p:nvSpPr>
        <p:spPr>
          <a:xfrm>
            <a:off x="453432" y="1992443"/>
            <a:ext cx="9887047" cy="4158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66"/>
              <a:buNone/>
              <a:defRPr b="0" sz="1866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0" name="Google Shape;5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70488" y="5789068"/>
            <a:ext cx="572756" cy="76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ий слайд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/>
          <p:nvPr>
            <p:ph idx="10" type="dt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1" type="ftr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7982" y="365125"/>
            <a:ext cx="105128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99"/>
              <a:buFont typeface="Exo 2"/>
              <a:buNone/>
              <a:defRPr b="0" i="0" sz="4399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7982" y="1825625"/>
            <a:ext cx="10512862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406336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Arial"/>
              <a:buChar char="•"/>
              <a:defRPr b="0" i="0" sz="2799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80936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b="0" i="0" sz="2399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indent="-347091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Char char="•"/>
              <a:defRPr b="0" i="0" sz="1866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indent="-347091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Char char="•"/>
              <a:defRPr b="0" i="0" sz="1866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indent="-347091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Char char="•"/>
              <a:defRPr b="0" i="0" sz="1866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indent="-347091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Char char="•"/>
              <a:defRPr b="0" i="0" sz="1866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indent="-347091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Char char="•"/>
              <a:defRPr b="0" i="0" sz="1866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indent="-347091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Char char="•"/>
              <a:defRPr b="0" i="0" sz="1866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/>
        </p:nvSpPr>
        <p:spPr>
          <a:xfrm>
            <a:off x="1382466" y="2681713"/>
            <a:ext cx="9423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396A"/>
                </a:solidFill>
                <a:latin typeface="Exo 2"/>
                <a:ea typeface="Exo 2"/>
                <a:cs typeface="Exo 2"/>
                <a:sym typeface="Exo 2"/>
              </a:rPr>
              <a:t>Організація моніторингу локальної мережі</a:t>
            </a:r>
            <a:br>
              <a:rPr b="1" lang="en-US" sz="3000">
                <a:solidFill>
                  <a:srgbClr val="11396A"/>
                </a:solidFill>
                <a:latin typeface="Exo 2"/>
                <a:ea typeface="Exo 2"/>
                <a:cs typeface="Exo 2"/>
                <a:sym typeface="Exo 2"/>
              </a:rPr>
            </a:br>
            <a:r>
              <a:rPr b="1" lang="en-US" sz="3000">
                <a:solidFill>
                  <a:srgbClr val="11396A"/>
                </a:solidFill>
                <a:latin typeface="Exo 2"/>
                <a:ea typeface="Exo 2"/>
                <a:cs typeface="Exo 2"/>
                <a:sym typeface="Exo 2"/>
              </a:rPr>
              <a:t>за допомогою протоколу SNMP</a:t>
            </a:r>
            <a:endParaRPr/>
          </a:p>
        </p:txBody>
      </p:sp>
      <p:pic>
        <p:nvPicPr>
          <p:cNvPr id="60" name="Google Shape;6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50" y="5"/>
            <a:ext cx="146685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9025" y="-71433"/>
            <a:ext cx="22098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"/>
          <p:cNvSpPr txBox="1"/>
          <p:nvPr/>
        </p:nvSpPr>
        <p:spPr>
          <a:xfrm>
            <a:off x="9188825" y="4431075"/>
            <a:ext cx="30000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2060"/>
                </a:solidFill>
                <a:latin typeface="Exo 2"/>
                <a:ea typeface="Exo 2"/>
                <a:cs typeface="Exo 2"/>
                <a:sym typeface="Exo 2"/>
              </a:rPr>
              <a:t>Студент </a:t>
            </a:r>
            <a:r>
              <a:rPr lang="en-US" sz="1600">
                <a:solidFill>
                  <a:srgbClr val="002060"/>
                </a:solidFill>
                <a:latin typeface="Exo 2"/>
                <a:ea typeface="Exo 2"/>
                <a:cs typeface="Exo 2"/>
                <a:sym typeface="Exo 2"/>
              </a:rPr>
              <a:t>групи ТВ-23</a:t>
            </a:r>
            <a:endParaRPr sz="1600">
              <a:solidFill>
                <a:srgbClr val="002060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2060"/>
                </a:solidFill>
                <a:latin typeface="Exo 2"/>
                <a:ea typeface="Exo 2"/>
                <a:cs typeface="Exo 2"/>
                <a:sym typeface="Exo 2"/>
              </a:rPr>
              <a:t>Салюк В.Ю.</a:t>
            </a:r>
            <a:endParaRPr sz="1600">
              <a:solidFill>
                <a:srgbClr val="002060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2060"/>
                </a:solidFill>
                <a:latin typeface="Exo 2"/>
                <a:ea typeface="Exo 2"/>
                <a:cs typeface="Exo 2"/>
                <a:sym typeface="Exo 2"/>
              </a:rPr>
              <a:t>Науковий керівник:</a:t>
            </a:r>
            <a:endParaRPr sz="1600">
              <a:solidFill>
                <a:srgbClr val="002060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2060"/>
                </a:solidFill>
                <a:latin typeface="Exo 2"/>
                <a:ea typeface="Exo 2"/>
                <a:cs typeface="Exo 2"/>
                <a:sym typeface="Exo 2"/>
              </a:rPr>
              <a:t>доц, к.т.н Шпурик В.В</a:t>
            </a:r>
            <a:endParaRPr sz="1600">
              <a:solidFill>
                <a:srgbClr val="00206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2532362" y="350750"/>
            <a:ext cx="7124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2060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</a:t>
            </a:r>
            <a:endParaRPr b="1">
              <a:solidFill>
                <a:srgbClr val="002060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2060"/>
                </a:solidFill>
                <a:latin typeface="Exo 2"/>
                <a:ea typeface="Exo 2"/>
                <a:cs typeface="Exo 2"/>
                <a:sym typeface="Exo 2"/>
              </a:rPr>
              <a:t>«КИЇВСЬКИЙ  ПОЛІТЕХНІЧНИЙ ІНСТИТУТ  ІМЕНІ  ІГОРЯ  СІКОРСЬКОГО»</a:t>
            </a:r>
            <a:endParaRPr b="1">
              <a:solidFill>
                <a:srgbClr val="00206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3200963" y="1085950"/>
            <a:ext cx="622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2060"/>
                </a:solidFill>
                <a:latin typeface="Exo 2"/>
                <a:ea typeface="Exo 2"/>
                <a:cs typeface="Exo 2"/>
                <a:sym typeface="Exo 2"/>
              </a:rPr>
              <a:t>Кафедра Інженерії програмного забезпечення в енергетиці</a:t>
            </a:r>
            <a:endParaRPr sz="1600">
              <a:solidFill>
                <a:srgbClr val="00206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3308400" y="1517050"/>
            <a:ext cx="569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Спеціальність  121 Інженерія програмного забезпечення</a:t>
            </a:r>
            <a:endParaRPr sz="1600">
              <a:solidFill>
                <a:srgbClr val="1B3A6E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5700" y="5380488"/>
            <a:ext cx="2057400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548640" y="27432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396A"/>
                </a:solidFill>
                <a:latin typeface="Exo 2"/>
                <a:ea typeface="Exo 2"/>
                <a:cs typeface="Exo 2"/>
                <a:sym typeface="Exo 2"/>
              </a:rPr>
              <a:t>Завдання роботи</a:t>
            </a:r>
            <a:endParaRPr/>
          </a:p>
        </p:txBody>
      </p:sp>
      <p:sp>
        <p:nvSpPr>
          <p:cNvPr id="72" name="Google Shape;72;p2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87878"/>
                </a:solidFill>
                <a:latin typeface="Exo 2"/>
                <a:ea typeface="Exo 2"/>
                <a:cs typeface="Exo 2"/>
                <a:sym typeface="Exo 2"/>
              </a:rPr>
              <a:t>КПІ ім. Ігоря Сікорського</a:t>
            </a:r>
            <a:endParaRPr/>
          </a:p>
        </p:txBody>
      </p:sp>
      <p:sp>
        <p:nvSpPr>
          <p:cNvPr id="73" name="Google Shape;73;p2"/>
          <p:cNvSpPr txBox="1"/>
          <p:nvPr/>
        </p:nvSpPr>
        <p:spPr>
          <a:xfrm>
            <a:off x="548650" y="1111650"/>
            <a:ext cx="109728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Мета роботи:</a:t>
            </a:r>
            <a:r>
              <a:rPr lang="en-US" sz="25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 Розробка програмної платформи на основі власних агентів, здатних імітувати роботу мережевого обладнання, генерувати реалістичний телеметричний трафік та відтворювати сценарії критичних збоїв або кібератак для верифікації мереж спеціального призначення. </a:t>
            </a:r>
            <a:endParaRPr sz="2500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548650" y="3534475"/>
            <a:ext cx="10972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</a:rPr>
              <a:t>Наукова новизна:</a:t>
            </a:r>
            <a:r>
              <a:rPr lang="en-US" sz="2500">
                <a:solidFill>
                  <a:schemeClr val="dk1"/>
                </a:solidFill>
              </a:rPr>
              <a:t> Перехід від пасивного спостереження до активного моделювання через власні програмні агенти, які динамічно змінюють метрики у відповідь на сценарії інцидентів. </a:t>
            </a:r>
            <a:endParaRPr sz="2500"/>
          </a:p>
        </p:txBody>
      </p:sp>
      <p:sp>
        <p:nvSpPr>
          <p:cNvPr id="75" name="Google Shape;75;p2"/>
          <p:cNvSpPr txBox="1"/>
          <p:nvPr/>
        </p:nvSpPr>
        <p:spPr>
          <a:xfrm>
            <a:off x="11370591" y="6230162"/>
            <a:ext cx="48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</a:rPr>
              <a:t>2</a:t>
            </a:r>
            <a:endParaRPr sz="279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07f24d839_0_8"/>
          <p:cNvSpPr txBox="1"/>
          <p:nvPr/>
        </p:nvSpPr>
        <p:spPr>
          <a:xfrm>
            <a:off x="457200" y="303751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396A"/>
                </a:solidFill>
                <a:latin typeface="Exo 2"/>
                <a:ea typeface="Exo 2"/>
                <a:cs typeface="Exo 2"/>
                <a:sym typeface="Exo 2"/>
              </a:rPr>
              <a:t> Аналіз існуючих рішень</a:t>
            </a:r>
            <a:endParaRPr/>
          </a:p>
        </p:txBody>
      </p:sp>
      <p:sp>
        <p:nvSpPr>
          <p:cNvPr id="81" name="Google Shape;81;g3e07f24d839_0_8"/>
          <p:cNvSpPr txBox="1"/>
          <p:nvPr/>
        </p:nvSpPr>
        <p:spPr>
          <a:xfrm>
            <a:off x="457200" y="6400800"/>
            <a:ext cx="45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87878"/>
                </a:solidFill>
                <a:latin typeface="Exo 2"/>
                <a:ea typeface="Exo 2"/>
                <a:cs typeface="Exo 2"/>
                <a:sym typeface="Exo 2"/>
              </a:rPr>
              <a:t>КПІ ім. Ігоря Сікорського</a:t>
            </a:r>
            <a:endParaRPr/>
          </a:p>
        </p:txBody>
      </p:sp>
      <p:sp>
        <p:nvSpPr>
          <p:cNvPr id="82" name="Google Shape;82;g3e07f24d839_0_8"/>
          <p:cNvSpPr txBox="1"/>
          <p:nvPr/>
        </p:nvSpPr>
        <p:spPr>
          <a:xfrm>
            <a:off x="457188" y="892450"/>
            <a:ext cx="10972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Проблема</a:t>
            </a:r>
            <a:r>
              <a:rPr b="1" lang="en-US" sz="2000">
                <a:solidFill>
                  <a:schemeClr val="dk1"/>
                </a:solidFill>
              </a:rPr>
              <a:t>: </a:t>
            </a:r>
            <a:r>
              <a:rPr lang="en-US" sz="2000">
                <a:solidFill>
                  <a:schemeClr val="dk1"/>
                </a:solidFill>
              </a:rPr>
              <a:t>Тестування мережевих пристроїв на реальній інфраструктурі є небезпечним та неприйнятним через ризик порушення роботи критичних систем.</a:t>
            </a:r>
            <a:endParaRPr b="1" sz="2000">
              <a:solidFill>
                <a:schemeClr val="dk1"/>
              </a:solidFill>
            </a:endParaRPr>
          </a:p>
        </p:txBody>
      </p:sp>
      <p:graphicFrame>
        <p:nvGraphicFramePr>
          <p:cNvPr id="83" name="Google Shape;83;g3e07f24d839_0_8"/>
          <p:cNvGraphicFramePr/>
          <p:nvPr/>
        </p:nvGraphicFramePr>
        <p:xfrm>
          <a:off x="997925" y="230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{0D714223-DAD3-42C6-9EAA-DC450D7F9B90}</a:tableStyleId>
              </a:tblPr>
              <a:tblGrid>
                <a:gridCol w="2632350"/>
                <a:gridCol w="7527925"/>
              </a:tblGrid>
              <a:tr h="33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Рішення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Недоліки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MIMIC SNMP Agent Simulator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Пасивні агенти, відсутність динамічної генерації інцидентів, закритий комерційний продукт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MG-SOFT SNMP Simulator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Не підтримує програмну симуляцію аномалій та кібератак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Net-SNMP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Базова реалізація SNMP, потребує значного доопрацювання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Zabbix / Nagios / PRTG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Виконують роль NMS, не підтримують симуляцію агентів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4" name="Google Shape;84;g3e07f24d839_0_8"/>
          <p:cNvSpPr txBox="1"/>
          <p:nvPr/>
        </p:nvSpPr>
        <p:spPr>
          <a:xfrm>
            <a:off x="-1050" y="4584600"/>
            <a:ext cx="11889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Висновок: </a:t>
            </a:r>
            <a:r>
              <a:rPr lang="en-US" sz="2000">
                <a:solidFill>
                  <a:schemeClr val="dk1"/>
                </a:solidFill>
              </a:rPr>
              <a:t>Існуючі програмні засоби не забезпечують повною мірою потреби тестування мереж спеціального призначення, оскільки не підтримують активну генерацію кіберінцидентів,  створення контрольованого тестового середовища без ризику для реальної інфраструктури.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85" name="Google Shape;85;g3e07f24d839_0_8"/>
          <p:cNvSpPr txBox="1"/>
          <p:nvPr/>
        </p:nvSpPr>
        <p:spPr>
          <a:xfrm>
            <a:off x="11370591" y="6230162"/>
            <a:ext cx="48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</a:rPr>
              <a:t>3</a:t>
            </a:r>
            <a:endParaRPr sz="279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/>
          <p:nvPr/>
        </p:nvSpPr>
        <p:spPr>
          <a:xfrm>
            <a:off x="548640" y="27432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396A"/>
                </a:solidFill>
                <a:latin typeface="Exo 2"/>
                <a:ea typeface="Exo 2"/>
                <a:cs typeface="Exo 2"/>
                <a:sym typeface="Exo 2"/>
              </a:rPr>
              <a:t>Узагальнена структура</a:t>
            </a:r>
            <a:endParaRPr/>
          </a:p>
        </p:txBody>
      </p:sp>
      <p:sp>
        <p:nvSpPr>
          <p:cNvPr id="91" name="Google Shape;91;p3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87878"/>
                </a:solidFill>
                <a:latin typeface="Exo 2"/>
                <a:ea typeface="Exo 2"/>
                <a:cs typeface="Exo 2"/>
                <a:sym typeface="Exo 2"/>
              </a:rPr>
              <a:t>КПІ ім. Ігоря Сікорського</a:t>
            </a:r>
            <a:endParaRPr sz="14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92" name="Google Shape;9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519" y="1347875"/>
            <a:ext cx="7277056" cy="41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 txBox="1"/>
          <p:nvPr/>
        </p:nvSpPr>
        <p:spPr>
          <a:xfrm>
            <a:off x="11370591" y="6230162"/>
            <a:ext cx="48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</a:rPr>
              <a:t>4</a:t>
            </a:r>
            <a:endParaRPr sz="279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/>
        </p:nvSpPr>
        <p:spPr>
          <a:xfrm>
            <a:off x="457200" y="493014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396A"/>
                </a:solidFill>
                <a:latin typeface="Exo 2"/>
                <a:ea typeface="Exo 2"/>
                <a:cs typeface="Exo 2"/>
                <a:sym typeface="Exo 2"/>
              </a:rPr>
              <a:t>Custom MIB — параметри спецпризначення</a:t>
            </a:r>
            <a:endParaRPr/>
          </a:p>
        </p:txBody>
      </p:sp>
      <p:graphicFrame>
        <p:nvGraphicFramePr>
          <p:cNvPr id="99" name="Google Shape;99;p4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{696B81B0-2936-4716-B476-1C2B08C369D0}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 u="none" cap="none" strike="noStrike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OID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39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Параметр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39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Тип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39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Призначення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396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99999.1.0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encryptionStatus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Integer32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Статус шифрування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99999.2.0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signalToNoiseRatio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Integer32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Рівень сигнал/шум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99999.3.0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deviceTemperature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Integer32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Температура обладнання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99999.4.0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secureChannelLatency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Integer32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Затримка каналу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99999.5.0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authFailureCount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/>
                        <a:t>Counter32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Невдалі спроби автентифікації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99999.6.0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packetLossRate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Integer32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Втрати пакетів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99999.9.0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anomalyDetectionFlag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Integer32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66"/>
                        <a:t>Ознака аномальної активності</a:t>
                      </a:r>
                      <a:endParaRPr sz="1866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0" name="Google Shape;100;p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87878"/>
                </a:solidFill>
                <a:latin typeface="Exo 2"/>
                <a:ea typeface="Exo 2"/>
                <a:cs typeface="Exo 2"/>
                <a:sym typeface="Exo 2"/>
              </a:rPr>
              <a:t>КПІ ім. Ігоря Сікорського</a:t>
            </a:r>
            <a:endParaRPr/>
          </a:p>
        </p:txBody>
      </p:sp>
      <p:sp>
        <p:nvSpPr>
          <p:cNvPr id="101" name="Google Shape;101;p4"/>
          <p:cNvSpPr txBox="1"/>
          <p:nvPr/>
        </p:nvSpPr>
        <p:spPr>
          <a:xfrm>
            <a:off x="11370591" y="6230162"/>
            <a:ext cx="48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</a:rPr>
              <a:t>5</a:t>
            </a:r>
            <a:endParaRPr sz="279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/>
        </p:nvSpPr>
        <p:spPr>
          <a:xfrm>
            <a:off x="457190" y="492285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396A"/>
                </a:solidFill>
                <a:latin typeface="Exo 2"/>
                <a:ea typeface="Exo 2"/>
                <a:cs typeface="Exo 2"/>
                <a:sym typeface="Exo 2"/>
              </a:rPr>
              <a:t>Вхід / Вихід / Критерії відповідності</a:t>
            </a:r>
            <a:endParaRPr b="1" sz="2800">
              <a:solidFill>
                <a:srgbClr val="11396A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457199" y="1532574"/>
            <a:ext cx="95097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Вхід: HTTP-запит через curl з параметром scenario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Обробка: SimulationEngine змінює MIB та надсилає Trap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Вихід: Алерт на дашборді Zabbix та критичне сповіщення</a:t>
            </a:r>
            <a:endParaRPr sz="14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98% test coverage (40 тестів, JaCoCo)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Zabbix успішно розпізнає всі 4 агенти</a:t>
            </a:r>
            <a:endParaRPr sz="14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457200" y="3681382"/>
            <a:ext cx="914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28B22"/>
                </a:solidFill>
                <a:latin typeface="Courier New"/>
                <a:ea typeface="Courier New"/>
                <a:cs typeface="Courier New"/>
                <a:sym typeface="Courier New"/>
              </a:rPr>
              <a:t>curl localhost:8161simulate?scenario=reb</a:t>
            </a:r>
            <a:endParaRPr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87878"/>
                </a:solidFill>
                <a:latin typeface="Exo 2"/>
                <a:ea typeface="Exo 2"/>
                <a:cs typeface="Exo 2"/>
                <a:sym typeface="Exo 2"/>
              </a:rPr>
              <a:t>КПІ ім. Ігоря Сікорського</a:t>
            </a:r>
            <a:endParaRPr/>
          </a:p>
        </p:txBody>
      </p:sp>
      <p:pic>
        <p:nvPicPr>
          <p:cNvPr id="110" name="Google Shape;11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0925" y="2710225"/>
            <a:ext cx="6637187" cy="282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11370591" y="6230162"/>
            <a:ext cx="48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</a:rPr>
              <a:t>6</a:t>
            </a:r>
            <a:endParaRPr sz="279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/>
        </p:nvSpPr>
        <p:spPr>
          <a:xfrm>
            <a:off x="731520" y="164104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396A"/>
                </a:solidFill>
                <a:latin typeface="Exo 2"/>
                <a:ea typeface="Exo 2"/>
                <a:cs typeface="Exo 2"/>
                <a:sym typeface="Exo 2"/>
              </a:rPr>
              <a:t>Результати</a:t>
            </a:r>
            <a:endParaRPr b="1" sz="2800">
              <a:solidFill>
                <a:srgbClr val="11396A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771120" y="761571"/>
            <a:ext cx="10058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🔧 SNMP-агент з Custom MIB (11 параметрів)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🐳 Docker-мережа з 4 пристроями</a:t>
            </a:r>
            <a:endParaRPr sz="14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⚔️ 7 сценаріїв симуляції кіберінцидентів</a:t>
            </a:r>
            <a:endParaRPr sz="14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📊 Інтеграція з Zabbix NMS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🧪 98% test coverage (JUnit + JaCoCo)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🌐 HTTP API для керування сценаріями</a:t>
            </a:r>
            <a:endParaRPr sz="14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731520" y="5415735"/>
            <a:ext cx="926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1396A"/>
                </a:solidFill>
                <a:latin typeface="Exo 2"/>
                <a:ea typeface="Exo 2"/>
                <a:cs typeface="Exo 2"/>
                <a:sym typeface="Exo 2"/>
              </a:rPr>
              <a:t>Система дозволяє верифікувати працездатність мережевих пристроїв спеціального призначення без ризику для реальної інфраструктури.</a:t>
            </a:r>
            <a:endParaRPr/>
          </a:p>
        </p:txBody>
      </p:sp>
      <p:sp>
        <p:nvSpPr>
          <p:cNvPr id="119" name="Google Shape;119;p6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87878"/>
                </a:solidFill>
                <a:latin typeface="Exo 2"/>
                <a:ea typeface="Exo 2"/>
                <a:cs typeface="Exo 2"/>
                <a:sym typeface="Exo 2"/>
              </a:rPr>
              <a:t>КПІ ім. Ігоря Сікорського</a:t>
            </a:r>
            <a:endParaRPr/>
          </a:p>
        </p:txBody>
      </p:sp>
      <p:pic>
        <p:nvPicPr>
          <p:cNvPr id="120" name="Google Shape;12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124" y="2922713"/>
            <a:ext cx="10893601" cy="245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 txBox="1"/>
          <p:nvPr/>
        </p:nvSpPr>
        <p:spPr>
          <a:xfrm>
            <a:off x="11370591" y="6230162"/>
            <a:ext cx="48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</a:rPr>
              <a:t>7</a:t>
            </a:r>
            <a:endParaRPr sz="279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07f24d839_0_23"/>
          <p:cNvSpPr txBox="1"/>
          <p:nvPr/>
        </p:nvSpPr>
        <p:spPr>
          <a:xfrm>
            <a:off x="731520" y="633829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396A"/>
                </a:solidFill>
                <a:latin typeface="Exo 2"/>
                <a:ea typeface="Exo 2"/>
                <a:cs typeface="Exo 2"/>
                <a:sym typeface="Exo 2"/>
              </a:rPr>
              <a:t>Список літератури</a:t>
            </a:r>
            <a:endParaRPr b="1" sz="2800">
              <a:solidFill>
                <a:srgbClr val="11396A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27" name="Google Shape;127;g3e07f24d839_0_23"/>
          <p:cNvSpPr txBox="1"/>
          <p:nvPr/>
        </p:nvSpPr>
        <p:spPr>
          <a:xfrm>
            <a:off x="1188720" y="1520396"/>
            <a:ext cx="100584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📚 RFC 3411, RFC 3412, RFC 3414, RFC 3416, RFC 1213</a:t>
            </a:r>
            <a:endParaRPr sz="2200">
              <a:solidFill>
                <a:srgbClr val="282828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📚 Essential SNMP — O’Reilly Media</a:t>
            </a:r>
            <a:endParaRPr sz="2200">
              <a:solidFill>
                <a:srgbClr val="282828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📚 NIST SP 800-82 Rev.3, NIST SP 800-53 Rev.5</a:t>
            </a:r>
            <a:endParaRPr sz="2200">
              <a:solidFill>
                <a:srgbClr val="282828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📚 ISO/IEC 27001:2022</a:t>
            </a:r>
            <a:endParaRPr sz="2200">
              <a:solidFill>
                <a:srgbClr val="282828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📚 SNMP4J Documentation</a:t>
            </a:r>
            <a:endParaRPr sz="2200">
              <a:solidFill>
                <a:srgbClr val="282828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📚 Docker Documentation</a:t>
            </a:r>
            <a:endParaRPr sz="2200">
              <a:solidFill>
                <a:srgbClr val="282828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📚 MIMIC SNMP Agent Simulator</a:t>
            </a:r>
            <a:endParaRPr sz="2200">
              <a:solidFill>
                <a:srgbClr val="282828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📚 MG-SOFT SNMP Simulator</a:t>
            </a:r>
            <a:endParaRPr sz="2200">
              <a:solidFill>
                <a:srgbClr val="282828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📚 Net-SNMP Project</a:t>
            </a:r>
            <a:endParaRPr sz="2200">
              <a:solidFill>
                <a:srgbClr val="282828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rgbClr val="282828"/>
                </a:solidFill>
                <a:latin typeface="Exo 2"/>
                <a:ea typeface="Exo 2"/>
                <a:cs typeface="Exo 2"/>
                <a:sym typeface="Exo 2"/>
              </a:rPr>
              <a:t>📚 Zabbix Documentation </a:t>
            </a:r>
            <a:endParaRPr sz="2200">
              <a:solidFill>
                <a:srgbClr val="282828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82828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28" name="Google Shape;128;g3e07f24d839_0_23"/>
          <p:cNvSpPr txBox="1"/>
          <p:nvPr/>
        </p:nvSpPr>
        <p:spPr>
          <a:xfrm>
            <a:off x="457200" y="6400800"/>
            <a:ext cx="45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87878"/>
                </a:solidFill>
                <a:latin typeface="Exo 2"/>
                <a:ea typeface="Exo 2"/>
                <a:cs typeface="Exo 2"/>
                <a:sym typeface="Exo 2"/>
              </a:rPr>
              <a:t>КПІ ім. Ігоря Сікорського</a:t>
            </a:r>
            <a:endParaRPr/>
          </a:p>
        </p:txBody>
      </p:sp>
      <p:sp>
        <p:nvSpPr>
          <p:cNvPr id="129" name="Google Shape;129;g3e07f24d839_0_23"/>
          <p:cNvSpPr txBox="1"/>
          <p:nvPr/>
        </p:nvSpPr>
        <p:spPr>
          <a:xfrm>
            <a:off x="11370591" y="6230162"/>
            <a:ext cx="48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</a:rPr>
              <a:t>8</a:t>
            </a:r>
            <a:endParaRPr sz="279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07f24d839_0_30"/>
          <p:cNvSpPr txBox="1"/>
          <p:nvPr/>
        </p:nvSpPr>
        <p:spPr>
          <a:xfrm>
            <a:off x="379420" y="1025254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396A"/>
                </a:solidFill>
                <a:latin typeface="Exo 2"/>
                <a:ea typeface="Exo 2"/>
                <a:cs typeface="Exo 2"/>
                <a:sym typeface="Exo 2"/>
              </a:rPr>
              <a:t>Висновки </a:t>
            </a:r>
            <a:endParaRPr b="1" sz="2800">
              <a:solidFill>
                <a:srgbClr val="11396A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35" name="Google Shape;135;g3e07f24d839_0_30"/>
          <p:cNvSpPr txBox="1"/>
          <p:nvPr/>
        </p:nvSpPr>
        <p:spPr>
          <a:xfrm>
            <a:off x="457200" y="6400800"/>
            <a:ext cx="45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87878"/>
                </a:solidFill>
                <a:latin typeface="Exo 2"/>
                <a:ea typeface="Exo 2"/>
                <a:cs typeface="Exo 2"/>
                <a:sym typeface="Exo 2"/>
              </a:rPr>
              <a:t>КПІ ім. Ігоря Сікорського</a:t>
            </a:r>
            <a:endParaRPr/>
          </a:p>
        </p:txBody>
      </p:sp>
      <p:sp>
        <p:nvSpPr>
          <p:cNvPr id="136" name="Google Shape;136;g3e07f24d839_0_30"/>
          <p:cNvSpPr txBox="1"/>
          <p:nvPr/>
        </p:nvSpPr>
        <p:spPr>
          <a:xfrm>
            <a:off x="379400" y="2066850"/>
            <a:ext cx="114300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Exo 2"/>
                <a:ea typeface="Exo 2"/>
                <a:cs typeface="Exo 2"/>
                <a:sym typeface="Exo 2"/>
              </a:rPr>
              <a:t>✅ Розроблено симуляційний полігон для тестування мережевих пристроїв для спеціального призначення.</a:t>
            </a:r>
            <a:endParaRPr sz="2000"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Exo 2"/>
                <a:ea typeface="Exo 2"/>
                <a:cs typeface="Exo 2"/>
                <a:sym typeface="Exo 2"/>
              </a:rPr>
              <a:t>✅ Реалізовано SNMP-агенти з підтримкою Custom MIB та генерацією кіберінцидентів.</a:t>
            </a:r>
            <a:endParaRPr sz="2000"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Exo 2"/>
                <a:ea typeface="Exo 2"/>
                <a:cs typeface="Exo 2"/>
                <a:sym typeface="Exo 2"/>
              </a:rPr>
              <a:t>✅ Забезпечено інтеграцію із Zabbix через SNMP Polling та Trap/Inform.</a:t>
            </a:r>
            <a:endParaRPr sz="2000"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latin typeface="Exo 2"/>
                <a:ea typeface="Exo 2"/>
                <a:cs typeface="Exo 2"/>
                <a:sym typeface="Exo 2"/>
              </a:rPr>
              <a:t>✅ Створене рішення дозволяє безпечно перевіряти працездатність систем моніторингу без ризику для реальної інфраструктури.</a:t>
            </a:r>
            <a:endParaRPr sz="2000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37" name="Google Shape;137;g3e07f24d839_0_30"/>
          <p:cNvSpPr txBox="1"/>
          <p:nvPr/>
        </p:nvSpPr>
        <p:spPr>
          <a:xfrm>
            <a:off x="11370591" y="6230162"/>
            <a:ext cx="48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</a:rPr>
              <a:t>9</a:t>
            </a:r>
            <a:endParaRPr sz="279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07f24d839_0_57"/>
          <p:cNvSpPr txBox="1"/>
          <p:nvPr/>
        </p:nvSpPr>
        <p:spPr>
          <a:xfrm>
            <a:off x="3951050" y="2573750"/>
            <a:ext cx="4286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03864"/>
                </a:solidFill>
                <a:latin typeface="Exo 2"/>
                <a:ea typeface="Exo 2"/>
                <a:cs typeface="Exo 2"/>
                <a:sym typeface="Exo 2"/>
              </a:rPr>
              <a:t>Дякую за увагу!</a:t>
            </a:r>
            <a:endParaRPr b="1" sz="3200">
              <a:solidFill>
                <a:srgbClr val="203864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e07f24d839_0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"/>
            <a:ext cx="12188825" cy="6857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kpi-presentation-pp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